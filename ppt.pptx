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236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F8FAFC"/>
                </a:solidFill>
                <a:latin typeface="Aptos Display"/>
              </a:rPr>
              <a:t>PG AND RESEARCH DEPARTMENT OF COMPUTER SCIENCE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3FB3D2"/>
                </a:solidFill>
                <a:latin typeface="Aptos"/>
              </a:rPr>
              <a:t>NAAN MUDHALVAN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3FB3D2"/>
                </a:solidFill>
                <a:latin typeface="Aptos Display"/>
              </a:rPr>
              <a:t>LEGAL AI</a:t>
            </a:r>
          </a:p>
          <a:p>
            <a:pPr algn="ctr"/>
            <a:r>
              <a:rPr sz="2400" b="1">
                <a:solidFill>
                  <a:srgbClr val="F8FAFC"/>
                </a:solidFill>
                <a:latin typeface="Aptos"/>
              </a:rPr>
              <a:t>AI-Powered Legal Document Generator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3794760"/>
            <a:ext cx="8503920" cy="2057400"/>
          </a:xfrm>
          <a:prstGeom prst="roundRect">
            <a:avLst/>
          </a:prstGeom>
          <a:solidFill>
            <a:srgbClr val="19304E"/>
          </a:solidFill>
          <a:ln>
            <a:solidFill>
              <a:srgbClr val="415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48840" y="4041648"/>
            <a:ext cx="7863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FB3D2"/>
                </a:solidFill>
              </a:rPr>
              <a:t>TEAM LEADER</a:t>
            </a:r>
          </a:p>
          <a:p>
            <a:pPr algn="ctr"/>
            <a:r>
              <a:rPr sz="2000" b="1">
                <a:solidFill>
                  <a:srgbClr val="F8FAFC"/>
                </a:solidFill>
              </a:rPr>
              <a:t>P. Priya</a:t>
            </a:r>
          </a:p>
          <a:p>
            <a:pPr algn="ctr"/>
            <a:r>
              <a:rPr sz="1300" b="1">
                <a:solidFill>
                  <a:srgbClr val="3FB3D2"/>
                </a:solidFill>
              </a:rPr>
              <a:t>TEAM MEMBERS</a:t>
            </a:r>
          </a:p>
          <a:p>
            <a:pPr algn="ctr"/>
            <a:r>
              <a:rPr sz="1500">
                <a:solidFill>
                  <a:srgbClr val="F8FAFC"/>
                </a:solidFill>
              </a:rPr>
              <a:t>G. Supriya  •  N. Soniya  •  A. Priyadharshini  •  V. Tharika</a:t>
            </a:r>
          </a:p>
        </p:txBody>
      </p:sp>
    </p:spTree>
  </p:cSld>
  <p:transition spd="med">
    <p:fade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F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101F37"/>
                </a:solidFill>
                <a:latin typeface="Aptos Display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192330"/>
                </a:solidFill>
                <a:latin typeface="Aptos"/>
              </a:defRPr>
            </a:pPr>
            <a:r>
              <a:t>Legal documents are essential for personal, business and organizational activities.</a:t>
            </a:r>
          </a:p>
          <a:p>
            <a:pPr>
              <a:spcAft>
                <a:spcPts val="1300"/>
              </a:spcAft>
              <a:defRPr sz="1900">
                <a:solidFill>
                  <a:srgbClr val="192330"/>
                </a:solidFill>
                <a:latin typeface="Aptos"/>
              </a:defRPr>
            </a:pPr>
            <a:r>
              <a:t>Preparing documents manually can be time-consuming and difficult for users unfamiliar with legal terminology.</a:t>
            </a:r>
          </a:p>
          <a:p>
            <a:pPr>
              <a:spcAft>
                <a:spcPts val="1300"/>
              </a:spcAft>
              <a:defRPr sz="1900">
                <a:solidFill>
                  <a:srgbClr val="192330"/>
                </a:solidFill>
                <a:latin typeface="Aptos"/>
              </a:defRPr>
            </a:pPr>
            <a:r>
              <a:t>Legal AI uses AI-assisted generation and structured templates to simplify the initial drafting process.</a:t>
            </a:r>
          </a:p>
          <a:p>
            <a:pPr>
              <a:spcAft>
                <a:spcPts val="1300"/>
              </a:spcAft>
              <a:defRPr sz="1900">
                <a:solidFill>
                  <a:srgbClr val="192330"/>
                </a:solidFill>
                <a:latin typeface="Aptos"/>
              </a:defRPr>
            </a:pPr>
            <a:r>
              <a:t>Users provide relevant information through a simple interface and receive a formatted document draft.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10881360" cy="13716"/>
          </a:xfrm>
          <a:prstGeom prst="rect">
            <a:avLst/>
          </a:prstGeom>
          <a:solidFill>
            <a:srgbClr val="E8E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19672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26070"/>
                </a:solidFill>
              </a:rPr>
              <a:t>LEGAL AI  •  Naan Mudhalvan Project  |  02</a:t>
            </a:r>
          </a:p>
        </p:txBody>
      </p:sp>
    </p:spTree>
  </p:cSld>
  <p:transition spd="med">
    <p:push dir="l"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F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101F37"/>
                </a:solidFill>
                <a:latin typeface="Aptos Display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192330"/>
                </a:solidFill>
                <a:latin typeface="Aptos"/>
              </a:defRPr>
            </a:pPr>
            <a:r>
              <a:t>Manual legal document preparation requires considerable time and repeated effort.</a:t>
            </a:r>
          </a:p>
          <a:p>
            <a:pPr>
              <a:spcAft>
                <a:spcPts val="1300"/>
              </a:spcAft>
              <a:defRPr sz="1900">
                <a:solidFill>
                  <a:srgbClr val="192330"/>
                </a:solidFill>
                <a:latin typeface="Aptos"/>
              </a:defRPr>
            </a:pPr>
            <a:r>
              <a:t>Legal terminology and document structure can be difficult for beginners.</a:t>
            </a:r>
          </a:p>
          <a:p>
            <a:pPr>
              <a:spcAft>
                <a:spcPts val="1300"/>
              </a:spcAft>
              <a:defRPr sz="1900">
                <a:solidFill>
                  <a:srgbClr val="192330"/>
                </a:solidFill>
                <a:latin typeface="Aptos"/>
              </a:defRPr>
            </a:pPr>
            <a:r>
              <a:t>Finding and adapting a suitable template may be challenging.</a:t>
            </a:r>
          </a:p>
          <a:p>
            <a:pPr>
              <a:spcAft>
                <a:spcPts val="1300"/>
              </a:spcAft>
              <a:defRPr sz="1900">
                <a:solidFill>
                  <a:srgbClr val="192330"/>
                </a:solidFill>
                <a:latin typeface="Aptos"/>
              </a:defRPr>
            </a:pPr>
            <a:r>
              <a:t>Important information can be missed during manual preparation.</a:t>
            </a:r>
          </a:p>
          <a:p>
            <a:pPr>
              <a:spcAft>
                <a:spcPts val="1300"/>
              </a:spcAft>
              <a:defRPr sz="1900">
                <a:solidFill>
                  <a:srgbClr val="192330"/>
                </a:solidFill>
                <a:latin typeface="Aptos"/>
              </a:defRPr>
            </a:pPr>
            <a:r>
              <a:t>Users need a simpler way to organize information and create an initial draft.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10881360" cy="13716"/>
          </a:xfrm>
          <a:prstGeom prst="rect">
            <a:avLst/>
          </a:prstGeom>
          <a:solidFill>
            <a:srgbClr val="E8E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19672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26070"/>
                </a:solidFill>
              </a:rPr>
              <a:t>LEGAL AI  •  Naan Mudhalvan Project  |  03</a:t>
            </a:r>
          </a:p>
        </p:txBody>
      </p:sp>
    </p:spTree>
  </p:cSld>
  <p:transition spd="med">
    <p:wipe dir="r"/>
  </p:transition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F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101F37"/>
                </a:solidFill>
                <a:latin typeface="Aptos Display"/>
              </a:rPr>
              <a:t>Existing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192330"/>
                </a:solidFill>
                <a:latin typeface="Aptos"/>
              </a:defRPr>
            </a:pPr>
            <a:r>
              <a:t>Users commonly consult professionals, search online templates, copy existing documents, and edit them manually.</a:t>
            </a:r>
          </a:p>
          <a:p>
            <a:pPr>
              <a:spcAft>
                <a:spcPts val="1300"/>
              </a:spcAft>
              <a:defRPr sz="1900">
                <a:solidFill>
                  <a:srgbClr val="192330"/>
                </a:solidFill>
                <a:latin typeface="Aptos"/>
              </a:defRPr>
            </a:pPr>
            <a:r>
              <a:t>Manual preparation involves repeated data entry and formatting.</a:t>
            </a:r>
          </a:p>
          <a:p>
            <a:pPr>
              <a:spcAft>
                <a:spcPts val="1300"/>
              </a:spcAft>
              <a:defRPr sz="1900">
                <a:solidFill>
                  <a:srgbClr val="192330"/>
                </a:solidFill>
                <a:latin typeface="Aptos"/>
              </a:defRPr>
            </a:pPr>
            <a:r>
              <a:t>Templates may not match the user's exact requirements.</a:t>
            </a:r>
          </a:p>
          <a:p>
            <a:pPr>
              <a:spcAft>
                <a:spcPts val="1300"/>
              </a:spcAft>
              <a:defRPr sz="1900">
                <a:solidFill>
                  <a:srgbClr val="192330"/>
                </a:solidFill>
                <a:latin typeface="Aptos"/>
              </a:defRPr>
            </a:pPr>
            <a:r>
              <a:t>Users may have difficulty understanding complex legal language.</a:t>
            </a:r>
          </a:p>
          <a:p>
            <a:pPr>
              <a:spcAft>
                <a:spcPts val="1300"/>
              </a:spcAft>
              <a:defRPr sz="1900">
                <a:solidFill>
                  <a:srgbClr val="192330"/>
                </a:solidFill>
                <a:latin typeface="Aptos"/>
              </a:defRPr>
            </a:pPr>
            <a:r>
              <a:t>These limitations motivate an AI-assisted document generation approach.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10881360" cy="13716"/>
          </a:xfrm>
          <a:prstGeom prst="rect">
            <a:avLst/>
          </a:prstGeom>
          <a:solidFill>
            <a:srgbClr val="E8E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19672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26070"/>
                </a:solidFill>
              </a:rPr>
              <a:t>LEGAL AI  •  Naan Mudhalvan Project  |  04</a:t>
            </a:r>
          </a:p>
        </p:txBody>
      </p:sp>
    </p:spTree>
  </p:cSld>
  <p:transition spd="med">
    <p:split orient="horz" dir="out"/>
  </p:transition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F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101F37"/>
                </a:solidFill>
                <a:latin typeface="Aptos Display"/>
              </a:rPr>
              <a:t>Proposed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192330"/>
                </a:solidFill>
                <a:latin typeface="Aptos"/>
              </a:defRPr>
            </a:pPr>
            <a:r>
              <a:t>Legal AI provides a guided workflow for creating structured legal document drafts.</a:t>
            </a:r>
          </a:p>
          <a:p>
            <a:pPr>
              <a:spcAft>
                <a:spcPts val="1300"/>
              </a:spcAft>
              <a:defRPr sz="1900">
                <a:solidFill>
                  <a:srgbClr val="192330"/>
                </a:solidFill>
                <a:latin typeface="Aptos"/>
              </a:defRPr>
            </a:pPr>
            <a:r>
              <a:t>The user selects a document type and enters the required information.</a:t>
            </a:r>
          </a:p>
          <a:p>
            <a:pPr>
              <a:spcAft>
                <a:spcPts val="1300"/>
              </a:spcAft>
              <a:defRPr sz="1900">
                <a:solidFill>
                  <a:srgbClr val="192330"/>
                </a:solidFill>
                <a:latin typeface="Aptos"/>
              </a:defRPr>
            </a:pPr>
            <a:r>
              <a:t>AI processing and predefined templates transform the inputs into organized document content.</a:t>
            </a:r>
          </a:p>
          <a:p>
            <a:pPr>
              <a:spcAft>
                <a:spcPts val="1300"/>
              </a:spcAft>
              <a:defRPr sz="1900">
                <a:solidFill>
                  <a:srgbClr val="192330"/>
                </a:solidFill>
                <a:latin typeface="Aptos"/>
              </a:defRPr>
            </a:pPr>
            <a:r>
              <a:t>The user can preview and edit the draft before saving or downloading it.</a:t>
            </a:r>
          </a:p>
          <a:p>
            <a:pPr>
              <a:spcAft>
                <a:spcPts val="1300"/>
              </a:spcAft>
              <a:defRPr sz="1900">
                <a:solidFill>
                  <a:srgbClr val="192330"/>
                </a:solidFill>
                <a:latin typeface="Aptos"/>
              </a:defRPr>
            </a:pPr>
            <a:r>
              <a:t>The system is designed as an assistance tool—not a replacement for qualified legal advice.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10881360" cy="13716"/>
          </a:xfrm>
          <a:prstGeom prst="rect">
            <a:avLst/>
          </a:prstGeom>
          <a:solidFill>
            <a:srgbClr val="E8E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19672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26070"/>
                </a:solidFill>
              </a:rPr>
              <a:t>LEGAL AI  •  Naan Mudhalvan Project  |  05</a:t>
            </a:r>
          </a:p>
        </p:txBody>
      </p:sp>
    </p:spTree>
  </p:cSld>
  <p:transition spd="med">
    <p:blinds orient="vert"/>
  </p:transition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F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101F37"/>
                </a:solidFill>
                <a:latin typeface="Aptos Display"/>
              </a:rPr>
              <a:t>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192330"/>
                </a:solidFill>
                <a:latin typeface="Aptos"/>
              </a:defRPr>
            </a:pPr>
            <a:r>
              <a:t>Develop an easy-to-use legal document generation system.</a:t>
            </a:r>
          </a:p>
          <a:p>
            <a:pPr>
              <a:spcAft>
                <a:spcPts val="1300"/>
              </a:spcAft>
              <a:defRPr sz="1900">
                <a:solidFill>
                  <a:srgbClr val="192330"/>
                </a:solidFill>
                <a:latin typeface="Aptos"/>
              </a:defRPr>
            </a:pPr>
            <a:r>
              <a:t>Reduce time and repetitive manual work involved in initial drafting.</a:t>
            </a:r>
          </a:p>
          <a:p>
            <a:pPr>
              <a:spcAft>
                <a:spcPts val="1300"/>
              </a:spcAft>
              <a:defRPr sz="1900">
                <a:solidFill>
                  <a:srgbClr val="192330"/>
                </a:solidFill>
                <a:latin typeface="Aptos"/>
              </a:defRPr>
            </a:pPr>
            <a:r>
              <a:t>Collect required information through structured forms.</a:t>
            </a:r>
          </a:p>
          <a:p>
            <a:pPr>
              <a:spcAft>
                <a:spcPts val="1300"/>
              </a:spcAft>
              <a:defRPr sz="1900">
                <a:solidFill>
                  <a:srgbClr val="192330"/>
                </a:solidFill>
                <a:latin typeface="Aptos"/>
              </a:defRPr>
            </a:pPr>
            <a:r>
              <a:t>Generate consistently formatted document drafts.</a:t>
            </a:r>
          </a:p>
          <a:p>
            <a:pPr>
              <a:spcAft>
                <a:spcPts val="1300"/>
              </a:spcAft>
              <a:defRPr sz="1900">
                <a:solidFill>
                  <a:srgbClr val="192330"/>
                </a:solidFill>
                <a:latin typeface="Aptos"/>
              </a:defRPr>
            </a:pPr>
            <a:r>
              <a:t>Provide preview, editing and download options.</a:t>
            </a:r>
          </a:p>
          <a:p>
            <a:pPr>
              <a:spcAft>
                <a:spcPts val="1300"/>
              </a:spcAft>
              <a:defRPr sz="1900">
                <a:solidFill>
                  <a:srgbClr val="192330"/>
                </a:solidFill>
                <a:latin typeface="Aptos"/>
              </a:defRPr>
            </a:pPr>
            <a:r>
              <a:t>Create a foundation that can support more document types in future.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10881360" cy="13716"/>
          </a:xfrm>
          <a:prstGeom prst="rect">
            <a:avLst/>
          </a:prstGeom>
          <a:solidFill>
            <a:srgbClr val="E8E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19672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26070"/>
                </a:solidFill>
              </a:rPr>
              <a:t>LEGAL AI  •  Naan Mudhalvan Project  |  06</a:t>
            </a:r>
          </a:p>
        </p:txBody>
      </p:sp>
    </p:spTree>
  </p:cSld>
  <p:transition spd="med">
    <p:checkerboard dir="horz"/>
  </p:transition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F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101F37"/>
                </a:solidFill>
                <a:latin typeface="Aptos Display"/>
              </a:rPr>
              <a:t>Key Features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33832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8E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00200"/>
            <a:ext cx="64008" cy="1143000"/>
          </a:xfrm>
          <a:prstGeom prst="rect">
            <a:avLst/>
          </a:prstGeom>
          <a:solidFill>
            <a:srgbClr val="236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64792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01F37"/>
                </a:solidFill>
                <a:latin typeface="Aptos Display"/>
              </a:rPr>
              <a:t>User-friendly web interface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526070"/>
                </a:solidFill>
                <a:latin typeface="Aptos"/>
              </a:rPr>
              <a:t>Simple, structured and user-focused.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600200"/>
            <a:ext cx="33832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8E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600200"/>
            <a:ext cx="64008" cy="1143000"/>
          </a:xfrm>
          <a:prstGeom prst="rect">
            <a:avLst/>
          </a:prstGeom>
          <a:solidFill>
            <a:srgbClr val="3F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764792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01F37"/>
                </a:solidFill>
                <a:latin typeface="Aptos Display"/>
              </a:rPr>
              <a:t>Document-type selection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240280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526070"/>
                </a:solidFill>
                <a:latin typeface="Aptos"/>
              </a:rPr>
              <a:t>Simple, structured and user-focused.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600200"/>
            <a:ext cx="33832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8E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79" y="1600200"/>
            <a:ext cx="64008" cy="1143000"/>
          </a:xfrm>
          <a:prstGeom prst="rect">
            <a:avLst/>
          </a:prstGeom>
          <a:solidFill>
            <a:srgbClr val="37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764792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01F37"/>
                </a:solidFill>
                <a:latin typeface="Aptos Display"/>
              </a:rPr>
              <a:t>Smart information input forms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240280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526070"/>
                </a:solidFill>
                <a:latin typeface="Aptos"/>
              </a:rPr>
              <a:t>Simple, structured and user-focused.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017520"/>
            <a:ext cx="33832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8E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017520"/>
            <a:ext cx="64008" cy="1143000"/>
          </a:xfrm>
          <a:prstGeom prst="rect">
            <a:avLst/>
          </a:prstGeom>
          <a:solidFill>
            <a:srgbClr val="236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182112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01F37"/>
                </a:solidFill>
                <a:latin typeface="Aptos Display"/>
              </a:rPr>
              <a:t>AI-assisted content generation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657600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526070"/>
                </a:solidFill>
                <a:latin typeface="Aptos"/>
              </a:rPr>
              <a:t>Simple, structured and user-focused.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3017520"/>
            <a:ext cx="33832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8E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34840" y="3017520"/>
            <a:ext cx="64008" cy="1143000"/>
          </a:xfrm>
          <a:prstGeom prst="rect">
            <a:avLst/>
          </a:prstGeom>
          <a:solidFill>
            <a:srgbClr val="3F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3182112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01F37"/>
                </a:solidFill>
                <a:latin typeface="Aptos Display"/>
              </a:rPr>
              <a:t>Predefined legal templates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3657600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526070"/>
                </a:solidFill>
                <a:latin typeface="Aptos"/>
              </a:rPr>
              <a:t>Simple, structured and user-focused.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83879" y="3017520"/>
            <a:ext cx="33832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8E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83879" y="3017520"/>
            <a:ext cx="64008" cy="1143000"/>
          </a:xfrm>
          <a:prstGeom prst="rect">
            <a:avLst/>
          </a:prstGeom>
          <a:solidFill>
            <a:srgbClr val="37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3182112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01F37"/>
                </a:solidFill>
                <a:latin typeface="Aptos Display"/>
              </a:rPr>
              <a:t>Automatic formatting and document preview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3657600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526070"/>
                </a:solidFill>
                <a:latin typeface="Aptos"/>
              </a:rPr>
              <a:t>Simple, structured and user-focused.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4434840"/>
            <a:ext cx="33832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8E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5800" y="4434840"/>
            <a:ext cx="64008" cy="1143000"/>
          </a:xfrm>
          <a:prstGeom prst="rect">
            <a:avLst/>
          </a:prstGeom>
          <a:solidFill>
            <a:srgbClr val="236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4599431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01F37"/>
                </a:solidFill>
                <a:latin typeface="Aptos Display"/>
              </a:rPr>
              <a:t>Edit, save and download options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074920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526070"/>
                </a:solidFill>
                <a:latin typeface="Aptos"/>
              </a:rPr>
              <a:t>Simple, structured and user-focused.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6473952"/>
            <a:ext cx="10881360" cy="13716"/>
          </a:xfrm>
          <a:prstGeom prst="rect">
            <a:avLst/>
          </a:prstGeom>
          <a:solidFill>
            <a:srgbClr val="E8E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6519672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26070"/>
                </a:solidFill>
              </a:rPr>
              <a:t>LEGAL AI  •  Naan Mudhalvan Project  |  07</a:t>
            </a:r>
          </a:p>
        </p:txBody>
      </p:sp>
    </p:spTree>
  </p:cSld>
  <p:transition spd="med">
    <p:cover dir="d"/>
  </p:transition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F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101F37"/>
                </a:solidFill>
                <a:latin typeface="Aptos Display"/>
              </a:rPr>
              <a:t>Types of Legal Documents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508760"/>
            <a:ext cx="49834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8E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508760"/>
            <a:ext cx="64008" cy="914400"/>
          </a:xfrm>
          <a:prstGeom prst="rect">
            <a:avLst/>
          </a:prstGeom>
          <a:solidFill>
            <a:srgbClr val="236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73351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01F37"/>
                </a:solidFill>
                <a:latin typeface="Aptos Display"/>
              </a:rPr>
              <a:t>Rental / Lease Agreement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48839"/>
            <a:ext cx="45720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526070"/>
                </a:solidFill>
                <a:latin typeface="Aptos"/>
              </a:rPr>
              <a:t>Draft format supported by the selected template.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508760"/>
            <a:ext cx="49834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8E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508760"/>
            <a:ext cx="64008" cy="914400"/>
          </a:xfrm>
          <a:prstGeom prst="rect">
            <a:avLst/>
          </a:prstGeom>
          <a:solidFill>
            <a:srgbClr val="3F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673351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01F37"/>
                </a:solidFill>
                <a:latin typeface="Aptos Display"/>
              </a:rPr>
              <a:t>Employment Agreement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148839"/>
            <a:ext cx="45720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526070"/>
                </a:solidFill>
                <a:latin typeface="Aptos"/>
              </a:rPr>
              <a:t>Draft format supported by the selected template.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624328"/>
            <a:ext cx="49834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8E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2624328"/>
            <a:ext cx="64008" cy="914400"/>
          </a:xfrm>
          <a:prstGeom prst="rect">
            <a:avLst/>
          </a:prstGeom>
          <a:solidFill>
            <a:srgbClr val="236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278892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01F37"/>
                </a:solidFill>
                <a:latin typeface="Aptos Display"/>
              </a:rPr>
              <a:t>Non-Disclosure Agreement (NDA)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264408"/>
            <a:ext cx="45720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526070"/>
                </a:solidFill>
                <a:latin typeface="Aptos"/>
              </a:rPr>
              <a:t>Draft format supported by the selected template.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2624328"/>
            <a:ext cx="49834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8E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2624328"/>
            <a:ext cx="64008" cy="914400"/>
          </a:xfrm>
          <a:prstGeom prst="rect">
            <a:avLst/>
          </a:prstGeom>
          <a:solidFill>
            <a:srgbClr val="3F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78892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01F37"/>
                </a:solidFill>
                <a:latin typeface="Aptos Display"/>
              </a:rPr>
              <a:t>Affidavit draft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264408"/>
            <a:ext cx="45720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526070"/>
                </a:solidFill>
                <a:latin typeface="Aptos"/>
              </a:rPr>
              <a:t>Draft format supported by the selected template.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739896"/>
            <a:ext cx="49834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8E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3739896"/>
            <a:ext cx="64008" cy="914400"/>
          </a:xfrm>
          <a:prstGeom prst="rect">
            <a:avLst/>
          </a:prstGeom>
          <a:solidFill>
            <a:srgbClr val="236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3904487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01F37"/>
                </a:solidFill>
                <a:latin typeface="Aptos Display"/>
              </a:rPr>
              <a:t>Leave and License Agreement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379976"/>
            <a:ext cx="45720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526070"/>
                </a:solidFill>
                <a:latin typeface="Aptos"/>
              </a:rPr>
              <a:t>Draft format supported by the selected template.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3739896"/>
            <a:ext cx="49834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8E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63640" y="3739896"/>
            <a:ext cx="64008" cy="914400"/>
          </a:xfrm>
          <a:prstGeom prst="rect">
            <a:avLst/>
          </a:prstGeom>
          <a:solidFill>
            <a:srgbClr val="3F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3904487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01F37"/>
                </a:solidFill>
                <a:latin typeface="Aptos Display"/>
              </a:rPr>
              <a:t>Business Agreement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4379976"/>
            <a:ext cx="45720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526070"/>
                </a:solidFill>
                <a:latin typeface="Aptos"/>
              </a:rPr>
              <a:t>Draft format supported by the selected template.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4855464"/>
            <a:ext cx="49834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8E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7240" y="4855464"/>
            <a:ext cx="64008" cy="914400"/>
          </a:xfrm>
          <a:prstGeom prst="rect">
            <a:avLst/>
          </a:prstGeom>
          <a:solidFill>
            <a:srgbClr val="236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5020056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01F37"/>
                </a:solidFill>
                <a:latin typeface="Aptos Display"/>
              </a:rPr>
              <a:t>Application or complaint draft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5495544"/>
            <a:ext cx="45720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526070"/>
                </a:solidFill>
                <a:latin typeface="Aptos"/>
              </a:rPr>
              <a:t>Draft format supported by the selected template.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63640" y="4855464"/>
            <a:ext cx="49834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8E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63640" y="4855464"/>
            <a:ext cx="64008" cy="914400"/>
          </a:xfrm>
          <a:prstGeom prst="rect">
            <a:avLst/>
          </a:prstGeom>
          <a:solidFill>
            <a:srgbClr val="3F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5020056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01F37"/>
                </a:solidFill>
                <a:latin typeface="Aptos Display"/>
              </a:rPr>
              <a:t>Additional document categories can be added through templates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5495544"/>
            <a:ext cx="45720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526070"/>
                </a:solidFill>
                <a:latin typeface="Aptos"/>
              </a:rPr>
              <a:t>Draft format supported by the selected template.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6473952"/>
            <a:ext cx="10881360" cy="13716"/>
          </a:xfrm>
          <a:prstGeom prst="rect">
            <a:avLst/>
          </a:prstGeom>
          <a:solidFill>
            <a:srgbClr val="E8E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6519672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26070"/>
                </a:solidFill>
              </a:rPr>
              <a:t>LEGAL AI  •  Naan Mudhalvan Project  |  08</a:t>
            </a:r>
          </a:p>
        </p:txBody>
      </p:sp>
    </p:spTree>
  </p:cSld>
  <p:transition spd="med">
    <p:uncover dir="l"/>
  </p:transition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F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101F37"/>
                </a:solidFill>
                <a:latin typeface="Aptos Display"/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78992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26070"/>
                </a:solidFill>
                <a:latin typeface="Aptos"/>
              </a:rPr>
              <a:t>How information moves through the Legal AI application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743200"/>
            <a:ext cx="1325880" cy="914400"/>
          </a:xfrm>
          <a:prstGeom prst="roundRect">
            <a:avLst/>
          </a:prstGeom>
          <a:solidFill>
            <a:srgbClr val="F8FAFC"/>
          </a:solidFill>
          <a:ln>
            <a:solidFill>
              <a:srgbClr val="236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2944368"/>
            <a:ext cx="117957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101F37"/>
                </a:solidFill>
              </a:rPr>
              <a:t>USER</a:t>
            </a:r>
          </a:p>
        </p:txBody>
      </p:sp>
      <p:sp>
        <p:nvSpPr>
          <p:cNvPr id="8" name="Chevron 7"/>
          <p:cNvSpPr/>
          <p:nvPr/>
        </p:nvSpPr>
        <p:spPr>
          <a:xfrm>
            <a:off x="1828800" y="3035808"/>
            <a:ext cx="228600" cy="320040"/>
          </a:xfrm>
          <a:prstGeom prst="chevron">
            <a:avLst/>
          </a:prstGeom>
          <a:solidFill>
            <a:srgbClr val="3F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947672" y="2743200"/>
            <a:ext cx="1325880" cy="914400"/>
          </a:xfrm>
          <a:prstGeom prst="roundRect">
            <a:avLst/>
          </a:prstGeom>
          <a:solidFill>
            <a:srgbClr val="F8FAFC"/>
          </a:solidFill>
          <a:ln>
            <a:solidFill>
              <a:srgbClr val="236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20824" y="2944368"/>
            <a:ext cx="117957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101F37"/>
                </a:solidFill>
              </a:rPr>
              <a:t>WEB INTERFACE</a:t>
            </a:r>
          </a:p>
        </p:txBody>
      </p:sp>
      <p:sp>
        <p:nvSpPr>
          <p:cNvPr id="11" name="Chevron 10"/>
          <p:cNvSpPr/>
          <p:nvPr/>
        </p:nvSpPr>
        <p:spPr>
          <a:xfrm>
            <a:off x="3273552" y="3035808"/>
            <a:ext cx="228600" cy="320040"/>
          </a:xfrm>
          <a:prstGeom prst="chevron">
            <a:avLst/>
          </a:prstGeom>
          <a:solidFill>
            <a:srgbClr val="3F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392424" y="2743200"/>
            <a:ext cx="1325880" cy="914400"/>
          </a:xfrm>
          <a:prstGeom prst="roundRect">
            <a:avLst/>
          </a:prstGeom>
          <a:solidFill>
            <a:srgbClr val="F8FAFC"/>
          </a:solidFill>
          <a:ln>
            <a:solidFill>
              <a:srgbClr val="236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65576" y="2944368"/>
            <a:ext cx="117957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101F37"/>
                </a:solidFill>
              </a:rPr>
              <a:t>USER INPUT</a:t>
            </a:r>
          </a:p>
        </p:txBody>
      </p:sp>
      <p:sp>
        <p:nvSpPr>
          <p:cNvPr id="14" name="Chevron 13"/>
          <p:cNvSpPr/>
          <p:nvPr/>
        </p:nvSpPr>
        <p:spPr>
          <a:xfrm>
            <a:off x="4718304" y="3035808"/>
            <a:ext cx="228600" cy="320040"/>
          </a:xfrm>
          <a:prstGeom prst="chevron">
            <a:avLst/>
          </a:prstGeom>
          <a:solidFill>
            <a:srgbClr val="3F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837176" y="2743200"/>
            <a:ext cx="1325880" cy="914400"/>
          </a:xfrm>
          <a:prstGeom prst="roundRect">
            <a:avLst/>
          </a:prstGeom>
          <a:solidFill>
            <a:srgbClr val="F8FAFC"/>
          </a:solidFill>
          <a:ln>
            <a:solidFill>
              <a:srgbClr val="236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10328" y="2944368"/>
            <a:ext cx="117957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101F37"/>
                </a:solidFill>
              </a:rPr>
              <a:t>AI PROCESSING</a:t>
            </a:r>
          </a:p>
        </p:txBody>
      </p:sp>
      <p:sp>
        <p:nvSpPr>
          <p:cNvPr id="17" name="Chevron 16"/>
          <p:cNvSpPr/>
          <p:nvPr/>
        </p:nvSpPr>
        <p:spPr>
          <a:xfrm>
            <a:off x="6163056" y="3035808"/>
            <a:ext cx="228600" cy="320040"/>
          </a:xfrm>
          <a:prstGeom prst="chevron">
            <a:avLst/>
          </a:prstGeom>
          <a:solidFill>
            <a:srgbClr val="3F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81928" y="2743200"/>
            <a:ext cx="1325880" cy="914400"/>
          </a:xfrm>
          <a:prstGeom prst="roundRect">
            <a:avLst/>
          </a:prstGeom>
          <a:solidFill>
            <a:srgbClr val="F8FAFC"/>
          </a:solidFill>
          <a:ln>
            <a:solidFill>
              <a:srgbClr val="236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2944368"/>
            <a:ext cx="117957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101F37"/>
                </a:solidFill>
              </a:rPr>
              <a:t>TEMPLATE ENGINE</a:t>
            </a:r>
          </a:p>
        </p:txBody>
      </p:sp>
      <p:sp>
        <p:nvSpPr>
          <p:cNvPr id="20" name="Chevron 19"/>
          <p:cNvSpPr/>
          <p:nvPr/>
        </p:nvSpPr>
        <p:spPr>
          <a:xfrm>
            <a:off x="7607808" y="3035808"/>
            <a:ext cx="228600" cy="320040"/>
          </a:xfrm>
          <a:prstGeom prst="chevron">
            <a:avLst/>
          </a:prstGeom>
          <a:solidFill>
            <a:srgbClr val="3F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726680" y="2743200"/>
            <a:ext cx="1325880" cy="914400"/>
          </a:xfrm>
          <a:prstGeom prst="roundRect">
            <a:avLst/>
          </a:prstGeom>
          <a:solidFill>
            <a:srgbClr val="F8FAFC"/>
          </a:solidFill>
          <a:ln>
            <a:solidFill>
              <a:srgbClr val="236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99832" y="2944368"/>
            <a:ext cx="117957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101F37"/>
                </a:solidFill>
              </a:rPr>
              <a:t>DOCUMENT GENERATOR</a:t>
            </a:r>
          </a:p>
        </p:txBody>
      </p:sp>
      <p:sp>
        <p:nvSpPr>
          <p:cNvPr id="23" name="Chevron 22"/>
          <p:cNvSpPr/>
          <p:nvPr/>
        </p:nvSpPr>
        <p:spPr>
          <a:xfrm>
            <a:off x="9052560" y="3035808"/>
            <a:ext cx="228600" cy="320040"/>
          </a:xfrm>
          <a:prstGeom prst="chevron">
            <a:avLst/>
          </a:prstGeom>
          <a:solidFill>
            <a:srgbClr val="3F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171432" y="2743200"/>
            <a:ext cx="1325880" cy="914400"/>
          </a:xfrm>
          <a:prstGeom prst="roundRect">
            <a:avLst/>
          </a:prstGeom>
          <a:solidFill>
            <a:srgbClr val="F8FAFC"/>
          </a:solidFill>
          <a:ln>
            <a:solidFill>
              <a:srgbClr val="236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44584" y="2944368"/>
            <a:ext cx="117957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101F37"/>
                </a:solidFill>
              </a:rPr>
              <a:t>PREVIEW / EDIT</a:t>
            </a:r>
          </a:p>
        </p:txBody>
      </p:sp>
      <p:sp>
        <p:nvSpPr>
          <p:cNvPr id="26" name="Chevron 25"/>
          <p:cNvSpPr/>
          <p:nvPr/>
        </p:nvSpPr>
        <p:spPr>
          <a:xfrm>
            <a:off x="10497312" y="3035808"/>
            <a:ext cx="228600" cy="320040"/>
          </a:xfrm>
          <a:prstGeom prst="chevron">
            <a:avLst/>
          </a:prstGeom>
          <a:solidFill>
            <a:srgbClr val="3F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616184" y="2743200"/>
            <a:ext cx="1325880" cy="914400"/>
          </a:xfrm>
          <a:prstGeom prst="roundRect">
            <a:avLst/>
          </a:prstGeom>
          <a:solidFill>
            <a:srgbClr val="F8FAFC"/>
          </a:solidFill>
          <a:ln>
            <a:solidFill>
              <a:srgbClr val="236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689336" y="2944368"/>
            <a:ext cx="117957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101F37"/>
                </a:solidFill>
              </a:rPr>
              <a:t>DOWNLOAD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6473952"/>
            <a:ext cx="10881360" cy="13716"/>
          </a:xfrm>
          <a:prstGeom prst="rect">
            <a:avLst/>
          </a:prstGeom>
          <a:solidFill>
            <a:srgbClr val="E8E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6519672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26070"/>
                </a:solidFill>
              </a:rPr>
              <a:t>LEGAL AI  •  Naan Mudhalvan Project  |  09</a:t>
            </a:r>
          </a:p>
        </p:txBody>
      </p:sp>
    </p:spTree>
  </p:cSld>
  <p:transition spd="med">
    <p:fade/>
  </p:transition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F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101F37"/>
                </a:solidFill>
                <a:latin typeface="Aptos Display"/>
              </a:rPr>
              <a:t>Technologies 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78992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26070"/>
                </a:solidFill>
                <a:latin typeface="Aptos"/>
              </a:rPr>
              <a:t>Choose technologies based on the tools actually implemented by your team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8E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00200"/>
            <a:ext cx="64008" cy="1417320"/>
          </a:xfrm>
          <a:prstGeom prst="rect">
            <a:avLst/>
          </a:prstGeom>
          <a:solidFill>
            <a:srgbClr val="236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6479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01F37"/>
                </a:solidFill>
                <a:latin typeface="Aptos Display"/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4028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526070"/>
                </a:solidFill>
                <a:latin typeface="Aptos"/>
              </a:rPr>
              <a:t>HTML • CSS • JavaScript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60020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8E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600200"/>
            <a:ext cx="64008" cy="1417320"/>
          </a:xfrm>
          <a:prstGeom prst="rect">
            <a:avLst/>
          </a:prstGeom>
          <a:solidFill>
            <a:srgbClr val="3F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76479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01F37"/>
                </a:solidFill>
                <a:latin typeface="Aptos Display"/>
              </a:rPr>
              <a:t>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24028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526070"/>
                </a:solidFill>
                <a:latin typeface="Aptos"/>
              </a:rPr>
              <a:t>Python • Flask / Django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60020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8E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79" y="1600200"/>
            <a:ext cx="64008" cy="1417320"/>
          </a:xfrm>
          <a:prstGeom prst="rect">
            <a:avLst/>
          </a:prstGeom>
          <a:solidFill>
            <a:srgbClr val="37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176479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01F37"/>
                </a:solidFill>
                <a:latin typeface="Aptos Display"/>
              </a:rPr>
              <a:t>AI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24028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526070"/>
                </a:solidFill>
                <a:latin typeface="Aptos"/>
              </a:rPr>
              <a:t>NLP • AI / LLM-based generation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42900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8E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429000"/>
            <a:ext cx="64008" cy="1417320"/>
          </a:xfrm>
          <a:prstGeom prst="rect">
            <a:avLst/>
          </a:prstGeom>
          <a:solidFill>
            <a:srgbClr val="236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59359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01F37"/>
                </a:solidFill>
                <a:latin typeface="Aptos Display"/>
              </a:rPr>
              <a:t>Database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06908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526070"/>
                </a:solidFill>
                <a:latin typeface="Aptos"/>
              </a:rPr>
              <a:t>SQLite / MySQL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42900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8E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34840" y="3429000"/>
            <a:ext cx="64008" cy="1417320"/>
          </a:xfrm>
          <a:prstGeom prst="rect">
            <a:avLst/>
          </a:prstGeom>
          <a:solidFill>
            <a:srgbClr val="3F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0" y="359359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01F37"/>
                </a:solidFill>
                <a:latin typeface="Aptos Display"/>
              </a:rPr>
              <a:t>Documents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406908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526070"/>
                </a:solidFill>
                <a:latin typeface="Aptos"/>
              </a:rPr>
              <a:t>PDF / DOCX generation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83879" y="342900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8E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83879" y="3429000"/>
            <a:ext cx="64008" cy="1417320"/>
          </a:xfrm>
          <a:prstGeom prst="rect">
            <a:avLst/>
          </a:prstGeom>
          <a:solidFill>
            <a:srgbClr val="37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0" y="359359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01F37"/>
                </a:solidFill>
                <a:latin typeface="Aptos Display"/>
              </a:rPr>
              <a:t>Development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406908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526070"/>
                </a:solidFill>
                <a:latin typeface="Aptos"/>
              </a:rPr>
              <a:t>VS Code • Git / GitHub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6473952"/>
            <a:ext cx="10881360" cy="13716"/>
          </a:xfrm>
          <a:prstGeom prst="rect">
            <a:avLst/>
          </a:prstGeom>
          <a:solidFill>
            <a:srgbClr val="E8E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6519672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26070"/>
                </a:solidFill>
              </a:rPr>
              <a:t>LEGAL AI  •  Naan Mudhalvan Project  |  10</a:t>
            </a:r>
          </a:p>
        </p:txBody>
      </p:sp>
    </p:spTree>
  </p:cSld>
  <p:transition spd="med">
    <p:push dir="r"/>
  </p:transition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F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101F37"/>
                </a:solidFill>
                <a:latin typeface="Aptos Display"/>
              </a:rPr>
              <a:t>Working of the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508760"/>
            <a:ext cx="49834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8E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508760"/>
            <a:ext cx="64008" cy="868680"/>
          </a:xfrm>
          <a:prstGeom prst="rect">
            <a:avLst/>
          </a:prstGeom>
          <a:solidFill>
            <a:srgbClr val="236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73351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01F37"/>
                </a:solidFill>
                <a:latin typeface="Aptos Display"/>
              </a:rPr>
              <a:t>Step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48839"/>
            <a:ext cx="4572000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526070"/>
                </a:solidFill>
                <a:latin typeface="Aptos"/>
              </a:rPr>
              <a:t>Open the Legal AI application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560320"/>
            <a:ext cx="49834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8E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2560320"/>
            <a:ext cx="64008" cy="868680"/>
          </a:xfrm>
          <a:prstGeom prst="rect">
            <a:avLst/>
          </a:prstGeom>
          <a:solidFill>
            <a:srgbClr val="3F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724912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01F37"/>
                </a:solidFill>
                <a:latin typeface="Aptos Display"/>
              </a:rPr>
              <a:t>Step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200400"/>
            <a:ext cx="4572000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526070"/>
                </a:solidFill>
                <a:latin typeface="Aptos"/>
              </a:rPr>
              <a:t>Select the required document type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611879"/>
            <a:ext cx="49834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8E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3611879"/>
            <a:ext cx="64008" cy="868680"/>
          </a:xfrm>
          <a:prstGeom prst="rect">
            <a:avLst/>
          </a:prstGeom>
          <a:solidFill>
            <a:srgbClr val="37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776472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01F37"/>
                </a:solidFill>
                <a:latin typeface="Aptos Display"/>
              </a:rPr>
              <a:t>Step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251959"/>
            <a:ext cx="4572000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526070"/>
                </a:solidFill>
                <a:latin typeface="Aptos"/>
              </a:rPr>
              <a:t>Enter the required information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663440"/>
            <a:ext cx="49834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8E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663440"/>
            <a:ext cx="64008" cy="868680"/>
          </a:xfrm>
          <a:prstGeom prst="rect">
            <a:avLst/>
          </a:prstGeom>
          <a:solidFill>
            <a:srgbClr val="236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828031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01F37"/>
                </a:solidFill>
                <a:latin typeface="Aptos Display"/>
              </a:rPr>
              <a:t>Step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303520"/>
            <a:ext cx="4572000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526070"/>
                </a:solidFill>
                <a:latin typeface="Aptos"/>
              </a:rPr>
              <a:t>AI processes the user inputs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1508760"/>
            <a:ext cx="49834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8E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1508760"/>
            <a:ext cx="64008" cy="868680"/>
          </a:xfrm>
          <a:prstGeom prst="rect">
            <a:avLst/>
          </a:prstGeom>
          <a:solidFill>
            <a:srgbClr val="3F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1673351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01F37"/>
                </a:solidFill>
                <a:latin typeface="Aptos Display"/>
              </a:rPr>
              <a:t>Step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148839"/>
            <a:ext cx="4572000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526070"/>
                </a:solidFill>
                <a:latin typeface="Aptos"/>
              </a:rPr>
              <a:t>Template + AI content generate the draft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2560320"/>
            <a:ext cx="49834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8E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63640" y="2560320"/>
            <a:ext cx="64008" cy="868680"/>
          </a:xfrm>
          <a:prstGeom prst="rect">
            <a:avLst/>
          </a:prstGeom>
          <a:solidFill>
            <a:srgbClr val="37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2724912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01F37"/>
                </a:solidFill>
                <a:latin typeface="Aptos Display"/>
              </a:rPr>
              <a:t>Step 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200400"/>
            <a:ext cx="4572000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526070"/>
                </a:solidFill>
                <a:latin typeface="Aptos"/>
              </a:rPr>
              <a:t>Preview and edit the document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63640" y="3611879"/>
            <a:ext cx="49834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8E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63640" y="3611879"/>
            <a:ext cx="64008" cy="868680"/>
          </a:xfrm>
          <a:prstGeom prst="rect">
            <a:avLst/>
          </a:prstGeom>
          <a:solidFill>
            <a:srgbClr val="236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3776472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01F37"/>
                </a:solidFill>
                <a:latin typeface="Aptos Display"/>
              </a:rPr>
              <a:t>Step 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4251959"/>
            <a:ext cx="4572000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526070"/>
                </a:solidFill>
                <a:latin typeface="Aptos"/>
              </a:rPr>
              <a:t>Download or save the final draft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6473952"/>
            <a:ext cx="10881360" cy="13716"/>
          </a:xfrm>
          <a:prstGeom prst="rect">
            <a:avLst/>
          </a:prstGeom>
          <a:solidFill>
            <a:srgbClr val="E8E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6519672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26070"/>
                </a:solidFill>
              </a:rPr>
              <a:t>LEGAL AI  •  Naan Mudhalvan Project  |  11</a:t>
            </a:r>
          </a:p>
        </p:txBody>
      </p:sp>
    </p:spTree>
  </p:cSld>
  <p:transition spd="med">
    <p:wipe dir="l"/>
  </p:transition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F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101F37"/>
                </a:solidFill>
                <a:latin typeface="Aptos Display"/>
              </a:rPr>
              <a:t>Advantages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49834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8E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417320"/>
            <a:ext cx="64008" cy="868680"/>
          </a:xfrm>
          <a:prstGeom prst="rect">
            <a:avLst/>
          </a:prstGeom>
          <a:solidFill>
            <a:srgbClr val="236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81912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01F37"/>
                </a:solidFill>
                <a:latin typeface="Aptos Display"/>
              </a:rPr>
              <a:t>Saves time and effort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057400"/>
            <a:ext cx="4572000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526070"/>
                </a:solidFill>
                <a:latin typeface="Aptos"/>
              </a:rPr>
              <a:t>Designed for a clear and guided user experience.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49834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8E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417320"/>
            <a:ext cx="64008" cy="868680"/>
          </a:xfrm>
          <a:prstGeom prst="rect">
            <a:avLst/>
          </a:prstGeom>
          <a:solidFill>
            <a:srgbClr val="3F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81912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01F37"/>
                </a:solidFill>
                <a:latin typeface="Aptos Display"/>
              </a:rPr>
              <a:t>Reduces repetitive manual 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057400"/>
            <a:ext cx="4572000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526070"/>
                </a:solidFill>
                <a:latin typeface="Aptos"/>
              </a:rPr>
              <a:t>Designed for a clear and guided user experience.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468880"/>
            <a:ext cx="49834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8E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2468880"/>
            <a:ext cx="64008" cy="868680"/>
          </a:xfrm>
          <a:prstGeom prst="rect">
            <a:avLst/>
          </a:prstGeom>
          <a:solidFill>
            <a:srgbClr val="236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2633472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01F37"/>
                </a:solidFill>
                <a:latin typeface="Aptos Display"/>
              </a:rPr>
              <a:t>Provides structured drafts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108960"/>
            <a:ext cx="4572000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526070"/>
                </a:solidFill>
                <a:latin typeface="Aptos"/>
              </a:rPr>
              <a:t>Designed for a clear and guided user experience.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2468880"/>
            <a:ext cx="49834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8E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2468880"/>
            <a:ext cx="64008" cy="868680"/>
          </a:xfrm>
          <a:prstGeom prst="rect">
            <a:avLst/>
          </a:prstGeom>
          <a:solidFill>
            <a:srgbClr val="3F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633472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01F37"/>
                </a:solidFill>
                <a:latin typeface="Aptos Display"/>
              </a:rPr>
              <a:t>Consistent formatting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108960"/>
            <a:ext cx="4572000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526070"/>
                </a:solidFill>
                <a:latin typeface="Aptos"/>
              </a:rPr>
              <a:t>Designed for a clear and guided user experience.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520439"/>
            <a:ext cx="49834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8E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3520439"/>
            <a:ext cx="64008" cy="868680"/>
          </a:xfrm>
          <a:prstGeom prst="rect">
            <a:avLst/>
          </a:prstGeom>
          <a:solidFill>
            <a:srgbClr val="236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3685031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01F37"/>
                </a:solidFill>
                <a:latin typeface="Aptos Display"/>
              </a:rPr>
              <a:t>Easy information collection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160520"/>
            <a:ext cx="4572000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526070"/>
                </a:solidFill>
                <a:latin typeface="Aptos"/>
              </a:rPr>
              <a:t>Designed for a clear and guided user experience.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3520439"/>
            <a:ext cx="49834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8E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63640" y="3520439"/>
            <a:ext cx="64008" cy="868680"/>
          </a:xfrm>
          <a:prstGeom prst="rect">
            <a:avLst/>
          </a:prstGeom>
          <a:solidFill>
            <a:srgbClr val="3F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3685031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01F37"/>
                </a:solidFill>
                <a:latin typeface="Aptos Display"/>
              </a:rPr>
              <a:t>Supports multiple document types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4160520"/>
            <a:ext cx="4572000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526070"/>
                </a:solidFill>
                <a:latin typeface="Aptos"/>
              </a:rPr>
              <a:t>Designed for a clear and guided user experience.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4572000"/>
            <a:ext cx="49834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8E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7240" y="4572000"/>
            <a:ext cx="64008" cy="868680"/>
          </a:xfrm>
          <a:prstGeom prst="rect">
            <a:avLst/>
          </a:prstGeom>
          <a:solidFill>
            <a:srgbClr val="236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4736592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01F37"/>
                </a:solidFill>
                <a:latin typeface="Aptos Display"/>
              </a:rPr>
              <a:t>Simple preview and editing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5212080"/>
            <a:ext cx="4572000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526070"/>
                </a:solidFill>
                <a:latin typeface="Aptos"/>
              </a:rPr>
              <a:t>Designed for a clear and guided user experience.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63640" y="4572000"/>
            <a:ext cx="49834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8E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63640" y="4572000"/>
            <a:ext cx="64008" cy="868680"/>
          </a:xfrm>
          <a:prstGeom prst="rect">
            <a:avLst/>
          </a:prstGeom>
          <a:solidFill>
            <a:srgbClr val="3F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4736592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01F37"/>
                </a:solidFill>
                <a:latin typeface="Aptos Display"/>
              </a:rPr>
              <a:t>Expandable AI-assisted workflow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5212080"/>
            <a:ext cx="4572000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526070"/>
                </a:solidFill>
                <a:latin typeface="Aptos"/>
              </a:rPr>
              <a:t>Designed for a clear and guided user experience.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6473952"/>
            <a:ext cx="10881360" cy="13716"/>
          </a:xfrm>
          <a:prstGeom prst="rect">
            <a:avLst/>
          </a:prstGeom>
          <a:solidFill>
            <a:srgbClr val="E8E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6519672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26070"/>
                </a:solidFill>
              </a:rPr>
              <a:t>LEGAL AI  •  Naan Mudhalvan Project  |  12</a:t>
            </a:r>
          </a:p>
        </p:txBody>
      </p:sp>
    </p:spTree>
  </p:cSld>
  <p:transition spd="med">
    <p:split orient="vert" dir="out"/>
  </p:transition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F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101F37"/>
                </a:solidFill>
                <a:latin typeface="Aptos Display"/>
              </a:rPr>
              <a:t>Future Scope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49834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8E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417320"/>
            <a:ext cx="64008" cy="868680"/>
          </a:xfrm>
          <a:prstGeom prst="rect">
            <a:avLst/>
          </a:prstGeom>
          <a:solidFill>
            <a:srgbClr val="3F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81912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01F37"/>
                </a:solidFill>
                <a:latin typeface="Aptos Display"/>
              </a:rPr>
              <a:t>Multiple Indian language support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057400"/>
            <a:ext cx="4572000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526070"/>
                </a:solidFill>
                <a:latin typeface="Aptos"/>
              </a:rPr>
              <a:t>Potential enhancement for a future version.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49834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8E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417320"/>
            <a:ext cx="64008" cy="868680"/>
          </a:xfrm>
          <a:prstGeom prst="rect">
            <a:avLst/>
          </a:prstGeom>
          <a:solidFill>
            <a:srgbClr val="37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81912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01F37"/>
                </a:solidFill>
                <a:latin typeface="Aptos Display"/>
              </a:rPr>
              <a:t>Voice-based information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057400"/>
            <a:ext cx="4572000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526070"/>
                </a:solidFill>
                <a:latin typeface="Aptos"/>
              </a:rPr>
              <a:t>Potential enhancement for a future version.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468880"/>
            <a:ext cx="49834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8E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2468880"/>
            <a:ext cx="64008" cy="868680"/>
          </a:xfrm>
          <a:prstGeom prst="rect">
            <a:avLst/>
          </a:prstGeom>
          <a:solidFill>
            <a:srgbClr val="3F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2633472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01F37"/>
                </a:solidFill>
                <a:latin typeface="Aptos Display"/>
              </a:rPr>
              <a:t>More legal document categories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108960"/>
            <a:ext cx="4572000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526070"/>
                </a:solidFill>
                <a:latin typeface="Aptos"/>
              </a:rPr>
              <a:t>Potential enhancement for a future version.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2468880"/>
            <a:ext cx="49834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8E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2468880"/>
            <a:ext cx="64008" cy="868680"/>
          </a:xfrm>
          <a:prstGeom prst="rect">
            <a:avLst/>
          </a:prstGeom>
          <a:solidFill>
            <a:srgbClr val="37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633472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01F37"/>
                </a:solidFill>
                <a:latin typeface="Aptos Display"/>
              </a:rPr>
              <a:t>AI-assisted document consistency checks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108960"/>
            <a:ext cx="4572000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526070"/>
                </a:solidFill>
                <a:latin typeface="Aptos"/>
              </a:rPr>
              <a:t>Potential enhancement for a future version.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520439"/>
            <a:ext cx="49834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8E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3520439"/>
            <a:ext cx="64008" cy="868680"/>
          </a:xfrm>
          <a:prstGeom prst="rect">
            <a:avLst/>
          </a:prstGeom>
          <a:solidFill>
            <a:srgbClr val="3F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3685031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01F37"/>
                </a:solidFill>
                <a:latin typeface="Aptos Display"/>
              </a:rPr>
              <a:t>Secure cloud document storage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160520"/>
            <a:ext cx="4572000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526070"/>
                </a:solidFill>
                <a:latin typeface="Aptos"/>
              </a:rPr>
              <a:t>Potential enhancement for a future version.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3520439"/>
            <a:ext cx="49834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8E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63640" y="3520439"/>
            <a:ext cx="64008" cy="868680"/>
          </a:xfrm>
          <a:prstGeom prst="rect">
            <a:avLst/>
          </a:prstGeom>
          <a:solidFill>
            <a:srgbClr val="37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3685031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01F37"/>
                </a:solidFill>
                <a:latin typeface="Aptos Display"/>
              </a:rPr>
              <a:t>Mobile application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4160520"/>
            <a:ext cx="4572000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526070"/>
                </a:solidFill>
                <a:latin typeface="Aptos"/>
              </a:rPr>
              <a:t>Potential enhancement for a future version.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4572000"/>
            <a:ext cx="49834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8E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7240" y="4572000"/>
            <a:ext cx="64008" cy="868680"/>
          </a:xfrm>
          <a:prstGeom prst="rect">
            <a:avLst/>
          </a:prstGeom>
          <a:solidFill>
            <a:srgbClr val="3F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4736592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01F37"/>
                </a:solidFill>
                <a:latin typeface="Aptos Display"/>
              </a:rPr>
              <a:t>Integration with verified legal information sources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5212080"/>
            <a:ext cx="4572000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526070"/>
                </a:solidFill>
                <a:latin typeface="Aptos"/>
              </a:rPr>
              <a:t>Potential enhancement for a future version.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63640" y="4572000"/>
            <a:ext cx="49834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8E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63640" y="4572000"/>
            <a:ext cx="64008" cy="868680"/>
          </a:xfrm>
          <a:prstGeom prst="rect">
            <a:avLst/>
          </a:prstGeom>
          <a:solidFill>
            <a:srgbClr val="37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4736592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01F37"/>
                </a:solidFill>
                <a:latin typeface="Aptos Display"/>
              </a:rPr>
              <a:t>Optional professional review workflow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5212080"/>
            <a:ext cx="4572000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526070"/>
                </a:solidFill>
                <a:latin typeface="Aptos"/>
              </a:rPr>
              <a:t>Potential enhancement for a future version.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6473952"/>
            <a:ext cx="10881360" cy="13716"/>
          </a:xfrm>
          <a:prstGeom prst="rect">
            <a:avLst/>
          </a:prstGeom>
          <a:solidFill>
            <a:srgbClr val="E8E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6519672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26070"/>
                </a:solidFill>
              </a:rPr>
              <a:t>LEGAL AI  •  Naan Mudhalvan Project  |  13</a:t>
            </a:r>
          </a:p>
        </p:txBody>
      </p:sp>
    </p:spTree>
  </p:cSld>
  <p:transition spd="med">
    <p:cover dir="u"/>
  </p:transition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8FAFC"/>
                </a:solidFill>
                <a:latin typeface="Aptos Display"/>
              </a:rPr>
              <a:t>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74519"/>
            <a:ext cx="10332720" cy="2560320"/>
          </a:xfrm>
          <a:prstGeom prst="roundRect">
            <a:avLst/>
          </a:prstGeom>
          <a:solidFill>
            <a:srgbClr val="19304E"/>
          </a:solidFill>
          <a:ln>
            <a:solidFill>
              <a:srgbClr val="415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194560"/>
            <a:ext cx="9692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>
                <a:solidFill>
                  <a:srgbClr val="F8FAFC"/>
                </a:solidFill>
              </a:rPr>
              <a:t>Legal AI simplifies the initial preparation of legal document drafts by combining guided forms, AI-assisted text generation and structured templates.</a:t>
            </a:r>
          </a:p>
          <a:p>
            <a:pPr>
              <a:spcBef>
                <a:spcPts val="1500"/>
              </a:spcBef>
            </a:pPr>
            <a:r>
              <a:rPr sz="1800">
                <a:solidFill>
                  <a:srgbClr val="CDDCEB"/>
                </a:solidFill>
              </a:rPr>
              <a:t>It can reduce repetitive work and improve consistency while keeping human review important for real-world legal use.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07492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3FB3D2"/>
                </a:solidFill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71500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>
                <a:solidFill>
                  <a:srgbClr val="F8FAFC"/>
                </a:solidFill>
              </a:rPr>
              <a:t>Questions &amp; Answers</a:t>
            </a:r>
          </a:p>
        </p:txBody>
      </p:sp>
    </p:spTree>
  </p:cSld>
  <p:transition spd="med">
    <p:fade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